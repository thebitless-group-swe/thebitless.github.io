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Glacial Indifference Bold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Neue Montreal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3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77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211212">
            <a:off x="5167724" y="-1165126"/>
            <a:ext cx="12331803" cy="9917211"/>
            <a:chOff x="0" y="0"/>
            <a:chExt cx="3010359" cy="2420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0359" cy="2420925"/>
            </a:xfrm>
            <a:custGeom>
              <a:avLst/>
              <a:gdLst/>
              <a:ahLst/>
              <a:cxnLst/>
              <a:rect l="l" t="t" r="r" b="b"/>
              <a:pathLst>
                <a:path w="3010359" h="2420925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211212">
            <a:off x="-3866503" y="-3315234"/>
            <a:ext cx="15203203" cy="15810641"/>
            <a:chOff x="0" y="0"/>
            <a:chExt cx="3711306" cy="38595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11306" cy="3859590"/>
            </a:xfrm>
            <a:custGeom>
              <a:avLst/>
              <a:gdLst/>
              <a:ahLst/>
              <a:cxnLst/>
              <a:rect l="l" t="t" r="r" b="b"/>
              <a:pathLst>
                <a:path w="3711306" h="3859590">
                  <a:moveTo>
                    <a:pt x="30554" y="0"/>
                  </a:moveTo>
                  <a:lnTo>
                    <a:pt x="3680752" y="0"/>
                  </a:lnTo>
                  <a:cubicBezTo>
                    <a:pt x="3697627" y="0"/>
                    <a:pt x="3711306" y="13679"/>
                    <a:pt x="3711306" y="30554"/>
                  </a:cubicBezTo>
                  <a:lnTo>
                    <a:pt x="3711306" y="3829036"/>
                  </a:lnTo>
                  <a:cubicBezTo>
                    <a:pt x="3711306" y="3845911"/>
                    <a:pt x="3697627" y="3859590"/>
                    <a:pt x="3680752" y="3859590"/>
                  </a:cubicBezTo>
                  <a:lnTo>
                    <a:pt x="30554" y="3859590"/>
                  </a:lnTo>
                  <a:cubicBezTo>
                    <a:pt x="13679" y="3859590"/>
                    <a:pt x="0" y="3845911"/>
                    <a:pt x="0" y="3829036"/>
                  </a:cubicBezTo>
                  <a:lnTo>
                    <a:pt x="0" y="30554"/>
                  </a:lnTo>
                  <a:cubicBezTo>
                    <a:pt x="0" y="13679"/>
                    <a:pt x="13679" y="0"/>
                    <a:pt x="30554" y="0"/>
                  </a:cubicBezTo>
                  <a:close/>
                </a:path>
              </a:pathLst>
            </a:custGeom>
            <a:solidFill>
              <a:srgbClr val="F7F8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711306" cy="3907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0159323" y="-8669142"/>
            <a:ext cx="12243504" cy="12243504"/>
            <a:chOff x="0" y="0"/>
            <a:chExt cx="2988804" cy="29888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88804" cy="2988804"/>
            </a:xfrm>
            <a:custGeom>
              <a:avLst/>
              <a:gdLst/>
              <a:ahLst/>
              <a:cxnLst/>
              <a:rect l="l" t="t" r="r" b="b"/>
              <a:pathLst>
                <a:path w="2988804" h="2988804">
                  <a:moveTo>
                    <a:pt x="37940" y="0"/>
                  </a:moveTo>
                  <a:lnTo>
                    <a:pt x="2950864" y="0"/>
                  </a:lnTo>
                  <a:cubicBezTo>
                    <a:pt x="2971818" y="0"/>
                    <a:pt x="2988804" y="16986"/>
                    <a:pt x="2988804" y="37940"/>
                  </a:cubicBezTo>
                  <a:lnTo>
                    <a:pt x="2988804" y="2950864"/>
                  </a:lnTo>
                  <a:cubicBezTo>
                    <a:pt x="2988804" y="2960927"/>
                    <a:pt x="2984807" y="2970577"/>
                    <a:pt x="2977692" y="2977692"/>
                  </a:cubicBezTo>
                  <a:cubicBezTo>
                    <a:pt x="2970577" y="2984807"/>
                    <a:pt x="2960927" y="2988804"/>
                    <a:pt x="2950864" y="2988804"/>
                  </a:cubicBezTo>
                  <a:lnTo>
                    <a:pt x="37940" y="2988804"/>
                  </a:lnTo>
                  <a:cubicBezTo>
                    <a:pt x="27877" y="2988804"/>
                    <a:pt x="18227" y="2984807"/>
                    <a:pt x="11112" y="2977692"/>
                  </a:cubicBezTo>
                  <a:cubicBezTo>
                    <a:pt x="3997" y="2970577"/>
                    <a:pt x="0" y="2960927"/>
                    <a:pt x="0" y="2950864"/>
                  </a:cubicBezTo>
                  <a:lnTo>
                    <a:pt x="0" y="37940"/>
                  </a:lnTo>
                  <a:cubicBezTo>
                    <a:pt x="0" y="27877"/>
                    <a:pt x="3997" y="18227"/>
                    <a:pt x="11112" y="11112"/>
                  </a:cubicBezTo>
                  <a:cubicBezTo>
                    <a:pt x="18227" y="3997"/>
                    <a:pt x="27877" y="0"/>
                    <a:pt x="37940" y="0"/>
                  </a:cubicBezTo>
                  <a:close/>
                </a:path>
              </a:pathLst>
            </a:custGeom>
            <a:solidFill>
              <a:srgbClr val="F7F8FA">
                <a:alpha val="6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88804" cy="3036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20034" y="3328319"/>
            <a:ext cx="2841485" cy="2431569"/>
          </a:xfrm>
          <a:custGeom>
            <a:avLst/>
            <a:gdLst/>
            <a:ahLst/>
            <a:cxnLst/>
            <a:rect l="l" t="t" r="r" b="b"/>
            <a:pathLst>
              <a:path w="2841485" h="2431569">
                <a:moveTo>
                  <a:pt x="0" y="0"/>
                </a:moveTo>
                <a:lnTo>
                  <a:pt x="2841485" y="0"/>
                </a:lnTo>
                <a:lnTo>
                  <a:pt x="2841485" y="2431570"/>
                </a:lnTo>
                <a:lnTo>
                  <a:pt x="0" y="2431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305" t="-38728" r="-58965" b="-3198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40233" y="3770901"/>
            <a:ext cx="986455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6000" b="1" spc="120" dirty="0">
                <a:solidFill>
                  <a:srgbClr val="2226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DIARIO DI BORDO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40233" y="4835957"/>
            <a:ext cx="986455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30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12 GIUGNO 2026 | UNIVERSITÀ DI PADOVA</a:t>
            </a:r>
          </a:p>
          <a:p>
            <a:pPr marL="0" lvl="0" indent="0" algn="l">
              <a:lnSpc>
                <a:spcPts val="3600"/>
              </a:lnSpc>
            </a:pPr>
            <a:endParaRPr lang="en-US" sz="3000" b="1" spc="300" dirty="0">
              <a:solidFill>
                <a:srgbClr val="4B548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32048" y="5473033"/>
            <a:ext cx="5731481" cy="278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Lorenzo Battistella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Edoardo De Piccoli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Davide Facco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Anna Marini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Andrea Menegaldo</a:t>
            </a:r>
          </a:p>
          <a:p>
            <a:pPr algn="ctr">
              <a:lnSpc>
                <a:spcPts val="3219"/>
              </a:lnSpc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Samuele Vendramin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spc="22">
                <a:solidFill>
                  <a:srgbClr val="000000">
                    <a:alpha val="4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Simone Zecchinato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</a:pPr>
            <a:r>
              <a:rPr lang="en-US" sz="2999" b="1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56671"/>
            <a:ext cx="16230600" cy="107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ATTIVITÀ COMPLETATE</a:t>
            </a:r>
          </a:p>
        </p:txBody>
      </p:sp>
      <p:grpSp>
        <p:nvGrpSpPr>
          <p:cNvPr id="6" name="Group 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44145" y="2569511"/>
            <a:ext cx="799709" cy="799709"/>
          </a:xfrm>
          <a:custGeom>
            <a:avLst/>
            <a:gdLst/>
            <a:ahLst/>
            <a:cxnLst/>
            <a:rect l="l" t="t" r="r" b="b"/>
            <a:pathLst>
              <a:path w="799709" h="799709">
                <a:moveTo>
                  <a:pt x="0" y="0"/>
                </a:moveTo>
                <a:lnTo>
                  <a:pt x="799710" y="0"/>
                </a:lnTo>
                <a:lnTo>
                  <a:pt x="799710" y="799709"/>
                </a:lnTo>
                <a:lnTo>
                  <a:pt x="0" y="799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363523" y="5584604"/>
            <a:ext cx="4607345" cy="9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  <a:spcBef>
                <a:spcPct val="0"/>
              </a:spcBef>
            </a:pP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Continuazione della stesura del Piano di Qualifica</a:t>
            </a:r>
            <a:endParaRPr lang="en-US" sz="2799" spc="27" dirty="0">
              <a:solidFill>
                <a:srgbClr val="231F20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63523" y="4197911"/>
            <a:ext cx="4607345" cy="898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3599"/>
              </a:lnSpc>
            </a:pPr>
            <a:r>
              <a:rPr lang="it-IT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Continuazione del Piano di Qualifica</a:t>
            </a:r>
            <a:endParaRPr lang="en-US" sz="2999" b="1" spc="299" dirty="0">
              <a:solidFill>
                <a:srgbClr val="4B548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0" y="9406701"/>
            <a:ext cx="1028700" cy="880299"/>
          </a:xfrm>
          <a:custGeom>
            <a:avLst/>
            <a:gdLst/>
            <a:ahLst/>
            <a:cxnLst/>
            <a:rect l="l" t="t" r="r" b="b"/>
            <a:pathLst>
              <a:path w="1028700" h="880299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305" t="-38728" r="-58965" b="-3198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676579" y="4197911"/>
            <a:ext cx="505991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</a:pP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POC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29149" y="5584604"/>
            <a:ext cx="4607345" cy="146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  <a:spcBef>
                <a:spcPct val="0"/>
              </a:spcBef>
            </a:pPr>
            <a:r>
              <a:rPr lang="it-IT" sz="2799" spc="27" dirty="0">
                <a:solidFill>
                  <a:srgbClr val="231F20"/>
                </a:solidFill>
                <a:latin typeface="Neue Montreal"/>
              </a:rPr>
              <a:t>Completata la maggior parte delle funzionalità previste per il </a:t>
            </a:r>
            <a:r>
              <a:rPr lang="it-IT" sz="2799" spc="27" dirty="0" err="1">
                <a:solidFill>
                  <a:srgbClr val="231F20"/>
                </a:solidFill>
                <a:latin typeface="Neue Montreal"/>
              </a:rPr>
              <a:t>Proof</a:t>
            </a:r>
            <a:r>
              <a:rPr lang="it-IT" sz="2799" spc="27" dirty="0">
                <a:solidFill>
                  <a:srgbClr val="231F20"/>
                </a:solidFill>
                <a:latin typeface="Neue Montreal"/>
              </a:rPr>
              <a:t> of </a:t>
            </a:r>
            <a:r>
              <a:rPr lang="it-IT" sz="2799" spc="27" dirty="0" err="1">
                <a:solidFill>
                  <a:srgbClr val="231F20"/>
                </a:solidFill>
                <a:latin typeface="Neue Montreal"/>
              </a:rPr>
              <a:t>Concept</a:t>
            </a:r>
            <a:r>
              <a:rPr lang="it-IT" sz="2799" spc="27" dirty="0">
                <a:solidFill>
                  <a:srgbClr val="231F20"/>
                </a:solidFill>
                <a:latin typeface="Neue Montreal"/>
              </a:rPr>
              <a:t>.</a:t>
            </a:r>
            <a:endParaRPr lang="en-US" sz="2799" spc="27" dirty="0">
              <a:solidFill>
                <a:srgbClr val="231F20"/>
              </a:solidFill>
              <a:latin typeface="Neue Montreal"/>
              <a:sym typeface="Neue Montre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</a:pPr>
            <a:r>
              <a:rPr lang="en-US" sz="2999" b="1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260494"/>
            <a:ext cx="16230600" cy="107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PROSSIMI OBIETTIVI</a:t>
            </a:r>
          </a:p>
        </p:txBody>
      </p:sp>
      <p:grpSp>
        <p:nvGrpSpPr>
          <p:cNvPr id="6" name="Group 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134536" y="3806134"/>
            <a:ext cx="4607345" cy="89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599"/>
              </a:lnSpc>
            </a:pPr>
            <a:r>
              <a:rPr lang="en-US" sz="2999" b="1" spc="299" dirty="0" err="1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Monitoraggio</a:t>
            </a: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999" b="1" spc="299" dirty="0" err="1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dello</a:t>
            </a: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 Sprint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34537" y="5149457"/>
            <a:ext cx="4607345" cy="145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  <a:spcBef>
                <a:spcPct val="0"/>
              </a:spcBef>
            </a:pP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Verifica dello stato di avanzamento ed eventuale ricalibrazione delle stime</a:t>
            </a:r>
            <a:endParaRPr lang="en-US" sz="2799" spc="27" dirty="0">
              <a:solidFill>
                <a:srgbClr val="231F20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46116" y="5143500"/>
            <a:ext cx="4607345" cy="145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  <a:spcBef>
                <a:spcPct val="0"/>
              </a:spcBef>
            </a:pP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Concludere le ultime funzionalità e relativi test del </a:t>
            </a:r>
            <a:r>
              <a:rPr lang="it-IT" sz="2799" spc="27" dirty="0" err="1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Proof</a:t>
            </a: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 of </a:t>
            </a:r>
            <a:r>
              <a:rPr lang="it-IT" sz="2799" spc="27" dirty="0" err="1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Concept</a:t>
            </a: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.</a:t>
            </a:r>
            <a:endParaRPr lang="en-US" sz="2799" spc="27" dirty="0">
              <a:solidFill>
                <a:srgbClr val="231F20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46116" y="3806134"/>
            <a:ext cx="4607345" cy="89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599"/>
              </a:lnSpc>
            </a:pPr>
            <a:r>
              <a:rPr lang="en-US" sz="2999" b="1" spc="299" dirty="0" err="1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Completamento</a:t>
            </a: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 del POC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8743" y="5266466"/>
            <a:ext cx="4750512" cy="9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it-IT" sz="2799" spc="27" dirty="0">
                <a:solidFill>
                  <a:srgbClr val="231F2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Proseguire la stesura del Piano di Qualifica.</a:t>
            </a:r>
            <a:endParaRPr lang="en-US" sz="2799" spc="27" dirty="0">
              <a:solidFill>
                <a:srgbClr val="231F20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17374" y="3806134"/>
            <a:ext cx="4853251" cy="89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599"/>
              </a:lnSpc>
            </a:pPr>
            <a:r>
              <a:rPr lang="en-US" sz="2999" b="1" spc="299" dirty="0" err="1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Sviluppo</a:t>
            </a: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 del Piano di </a:t>
            </a:r>
            <a:r>
              <a:rPr lang="en-US" sz="2999" b="1" spc="299" dirty="0" err="1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Qualifica</a:t>
            </a:r>
            <a:endParaRPr lang="en-US" sz="2999" b="1" spc="299" dirty="0">
              <a:solidFill>
                <a:srgbClr val="4B548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0" y="9406701"/>
            <a:ext cx="1028700" cy="880299"/>
          </a:xfrm>
          <a:custGeom>
            <a:avLst/>
            <a:gdLst/>
            <a:ahLst/>
            <a:cxnLst/>
            <a:rect l="l" t="t" r="r" b="b"/>
            <a:pathLst>
              <a:path w="1028700" h="880299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05" t="-38728" r="-58965" b="-3198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</a:pPr>
            <a:r>
              <a:rPr lang="en-US" sz="2999" b="1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1327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73570" y="1256476"/>
            <a:ext cx="16230600" cy="95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00"/>
              </a:lnSpc>
            </a:pPr>
            <a:r>
              <a:rPr lang="en-US" sz="7100" b="1" spc="142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DIFFICOLTÀ RISCONTRATE E DUBBI</a:t>
            </a:r>
          </a:p>
        </p:txBody>
      </p:sp>
      <p:grpSp>
        <p:nvGrpSpPr>
          <p:cNvPr id="6" name="Group 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696691" cy="1153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9406701"/>
            <a:ext cx="1028700" cy="880299"/>
          </a:xfrm>
          <a:custGeom>
            <a:avLst/>
            <a:gdLst/>
            <a:ahLst/>
            <a:cxnLst/>
            <a:rect l="l" t="t" r="r" b="b"/>
            <a:pathLst>
              <a:path w="1028700" h="880299">
                <a:moveTo>
                  <a:pt x="0" y="0"/>
                </a:moveTo>
                <a:lnTo>
                  <a:pt x="1028700" y="0"/>
                </a:lnTo>
                <a:lnTo>
                  <a:pt x="1028700" y="880299"/>
                </a:lnTo>
                <a:lnTo>
                  <a:pt x="0" y="88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05" t="-38728" r="-58965" b="-31989"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5773377" y="8216695"/>
            <a:ext cx="418787" cy="418787"/>
          </a:xfrm>
          <a:custGeom>
            <a:avLst/>
            <a:gdLst/>
            <a:ahLst/>
            <a:cxnLst/>
            <a:rect l="l" t="t" r="r" b="b"/>
            <a:pathLst>
              <a:path w="418787" h="418787">
                <a:moveTo>
                  <a:pt x="418787" y="0"/>
                </a:moveTo>
                <a:lnTo>
                  <a:pt x="0" y="0"/>
                </a:lnTo>
                <a:lnTo>
                  <a:pt x="0" y="418787"/>
                </a:lnTo>
                <a:lnTo>
                  <a:pt x="418787" y="418787"/>
                </a:lnTo>
                <a:lnTo>
                  <a:pt x="4187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181247" y="4447065"/>
            <a:ext cx="5925503" cy="145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it-IT" sz="2799" spc="27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Il completamento del POC richiederà più tempo rispetto a quanto stimato inizialmente.</a:t>
            </a:r>
            <a:endParaRPr lang="en-US" sz="2799" spc="27" dirty="0">
              <a:solidFill>
                <a:srgbClr val="000000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94823" y="3582297"/>
            <a:ext cx="589835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2999" b="1" spc="29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ALLINEAMENTO INTERNO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55628" y="9399176"/>
            <a:ext cx="460734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</a:pPr>
            <a:r>
              <a:rPr lang="en-US" sz="2999" b="1" spc="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120</Words>
  <Application>Microsoft Office PowerPoint</Application>
  <PresentationFormat>Personalizzato</PresentationFormat>
  <Paragraphs>28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Glacial Indifference Bold</vt:lpstr>
      <vt:lpstr>Calibri</vt:lpstr>
      <vt:lpstr>Arial</vt:lpstr>
      <vt:lpstr>Neue Montreal</vt:lpstr>
      <vt:lpstr>Inter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DB_2026-05-015</dc:title>
  <cp:lastModifiedBy>Andrea Menegaldo</cp:lastModifiedBy>
  <cp:revision>8</cp:revision>
  <dcterms:created xsi:type="dcterms:W3CDTF">2006-08-16T00:00:00Z</dcterms:created>
  <dcterms:modified xsi:type="dcterms:W3CDTF">2026-06-12T07:21:41Z</dcterms:modified>
  <dc:identifier>DAHIzPC2lIQ</dc:identifier>
</cp:coreProperties>
</file>