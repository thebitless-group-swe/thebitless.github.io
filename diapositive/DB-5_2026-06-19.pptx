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embeddedFontLst>
    <p:embeddedFont>
      <p:font typeface="Inter"/>
      <p:bold r:id="rId10"/>
      <p:boldItalic r:id="rId11"/>
    </p:embeddedFont>
    <p:embeddedFont>
      <p:font typeface="NTR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h8AP5K+Qx/TYiIDUKjTxwMjPVc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bold.fntdata"/><Relationship Id="rId13" Type="http://customschemas.google.com/relationships/presentationmetadata" Target="metadata"/><Relationship Id="rId12" Type="http://schemas.openxmlformats.org/officeDocument/2006/relationships/font" Target="fonts/NT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8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-2211212">
            <a:off x="5109218" y="-1340727"/>
            <a:ext cx="12331803" cy="10112305"/>
            <a:chOff x="0" y="-47625"/>
            <a:chExt cx="3010359" cy="2468550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3010359" cy="2420925"/>
            </a:xfrm>
            <a:custGeom>
              <a:rect b="b" l="l" r="r" t="t"/>
              <a:pathLst>
                <a:path extrusionOk="0" h="2420925" w="3010359">
                  <a:moveTo>
                    <a:pt x="37668" y="0"/>
                  </a:moveTo>
                  <a:lnTo>
                    <a:pt x="2972691" y="0"/>
                  </a:lnTo>
                  <a:cubicBezTo>
                    <a:pt x="2993495" y="0"/>
                    <a:pt x="3010359" y="16865"/>
                    <a:pt x="3010359" y="37668"/>
                  </a:cubicBezTo>
                  <a:lnTo>
                    <a:pt x="3010359" y="2383257"/>
                  </a:lnTo>
                  <a:cubicBezTo>
                    <a:pt x="3010359" y="2404060"/>
                    <a:pt x="2993495" y="2420925"/>
                    <a:pt x="2972691" y="2420925"/>
                  </a:cubicBezTo>
                  <a:lnTo>
                    <a:pt x="37668" y="2420925"/>
                  </a:lnTo>
                  <a:cubicBezTo>
                    <a:pt x="16865" y="2420925"/>
                    <a:pt x="0" y="2404060"/>
                    <a:pt x="0" y="2383257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gradFill>
              <a:gsLst>
                <a:gs pos="0">
                  <a:srgbClr val="9FA5C8">
                    <a:alpha val="8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3010359" cy="2468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 rot="-2211212">
            <a:off x="-3925009" y="-3490835"/>
            <a:ext cx="15203203" cy="16005735"/>
            <a:chOff x="0" y="-47625"/>
            <a:chExt cx="3711306" cy="3907215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711306" cy="3859590"/>
            </a:xfrm>
            <a:custGeom>
              <a:rect b="b" l="l" r="r" t="t"/>
              <a:pathLst>
                <a:path extrusionOk="0" h="3859590" w="3711306">
                  <a:moveTo>
                    <a:pt x="30554" y="0"/>
                  </a:moveTo>
                  <a:lnTo>
                    <a:pt x="3680752" y="0"/>
                  </a:lnTo>
                  <a:cubicBezTo>
                    <a:pt x="3697627" y="0"/>
                    <a:pt x="3711306" y="13679"/>
                    <a:pt x="3711306" y="30554"/>
                  </a:cubicBezTo>
                  <a:lnTo>
                    <a:pt x="3711306" y="3829036"/>
                  </a:lnTo>
                  <a:cubicBezTo>
                    <a:pt x="3711306" y="3845911"/>
                    <a:pt x="3697627" y="3859590"/>
                    <a:pt x="3680752" y="3859590"/>
                  </a:cubicBezTo>
                  <a:lnTo>
                    <a:pt x="30554" y="3859590"/>
                  </a:lnTo>
                  <a:cubicBezTo>
                    <a:pt x="13679" y="3859590"/>
                    <a:pt x="0" y="3845911"/>
                    <a:pt x="0" y="3829036"/>
                  </a:cubicBezTo>
                  <a:lnTo>
                    <a:pt x="0" y="30554"/>
                  </a:lnTo>
                  <a:cubicBezTo>
                    <a:pt x="0" y="13679"/>
                    <a:pt x="13679" y="0"/>
                    <a:pt x="30554" y="0"/>
                  </a:cubicBezTo>
                  <a:close/>
                </a:path>
              </a:pathLst>
            </a:custGeom>
            <a:solidFill>
              <a:srgbClr val="F7F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711306" cy="390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 rot="-2211212">
            <a:off x="10100817" y="-8844743"/>
            <a:ext cx="12243504" cy="12438598"/>
            <a:chOff x="0" y="-47625"/>
            <a:chExt cx="2988804" cy="3036429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2988804" cy="2988804"/>
            </a:xfrm>
            <a:custGeom>
              <a:rect b="b" l="l" r="r" t="t"/>
              <a:pathLst>
                <a:path extrusionOk="0" h="2988804" w="2988804">
                  <a:moveTo>
                    <a:pt x="37940" y="0"/>
                  </a:moveTo>
                  <a:lnTo>
                    <a:pt x="2950864" y="0"/>
                  </a:lnTo>
                  <a:cubicBezTo>
                    <a:pt x="2971818" y="0"/>
                    <a:pt x="2988804" y="16986"/>
                    <a:pt x="2988804" y="37940"/>
                  </a:cubicBezTo>
                  <a:lnTo>
                    <a:pt x="2988804" y="2950864"/>
                  </a:lnTo>
                  <a:cubicBezTo>
                    <a:pt x="2988804" y="2960927"/>
                    <a:pt x="2984807" y="2970577"/>
                    <a:pt x="2977692" y="2977692"/>
                  </a:cubicBezTo>
                  <a:cubicBezTo>
                    <a:pt x="2970577" y="2984807"/>
                    <a:pt x="2960927" y="2988804"/>
                    <a:pt x="2950864" y="2988804"/>
                  </a:cubicBezTo>
                  <a:lnTo>
                    <a:pt x="37940" y="2988804"/>
                  </a:lnTo>
                  <a:cubicBezTo>
                    <a:pt x="27877" y="2988804"/>
                    <a:pt x="18227" y="2984807"/>
                    <a:pt x="11112" y="2977692"/>
                  </a:cubicBezTo>
                  <a:cubicBezTo>
                    <a:pt x="3997" y="2970577"/>
                    <a:pt x="0" y="2960927"/>
                    <a:pt x="0" y="2950864"/>
                  </a:cubicBezTo>
                  <a:lnTo>
                    <a:pt x="0" y="37940"/>
                  </a:lnTo>
                  <a:cubicBezTo>
                    <a:pt x="0" y="27877"/>
                    <a:pt x="3997" y="18227"/>
                    <a:pt x="11112" y="11112"/>
                  </a:cubicBezTo>
                  <a:cubicBezTo>
                    <a:pt x="18227" y="3997"/>
                    <a:pt x="27877" y="0"/>
                    <a:pt x="37940" y="0"/>
                  </a:cubicBezTo>
                  <a:close/>
                </a:path>
              </a:pathLst>
            </a:custGeom>
            <a:solidFill>
              <a:srgbClr val="F7F8FA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2988804" cy="3036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220034" y="3328319"/>
            <a:ext cx="2841485" cy="2431569"/>
          </a:xfrm>
          <a:custGeom>
            <a:rect b="b" l="l" r="r" t="t"/>
            <a:pathLst>
              <a:path extrusionOk="0" h="2431569" w="2841485">
                <a:moveTo>
                  <a:pt x="0" y="0"/>
                </a:moveTo>
                <a:lnTo>
                  <a:pt x="2841485" y="0"/>
                </a:lnTo>
                <a:lnTo>
                  <a:pt x="2841485" y="2431570"/>
                </a:lnTo>
                <a:lnTo>
                  <a:pt x="0" y="2431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989" l="-60307" r="-58967" t="-38727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3340233" y="3770901"/>
            <a:ext cx="986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263E"/>
                </a:solidFill>
                <a:latin typeface="Arial"/>
                <a:ea typeface="Arial"/>
                <a:cs typeface="Arial"/>
                <a:sym typeface="Arial"/>
              </a:rPr>
              <a:t>DIARIO DI BORDO </a:t>
            </a:r>
            <a:r>
              <a:rPr b="1" lang="en-US" sz="6000">
                <a:solidFill>
                  <a:srgbClr val="22263E"/>
                </a:solidFill>
              </a:rPr>
              <a:t>5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340233" y="4835957"/>
            <a:ext cx="986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r>
              <a:rPr b="1" i="0" lang="en-US" sz="3000" u="none" cap="none" strike="noStrike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3000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GIUGNO</a:t>
            </a:r>
            <a:r>
              <a:rPr b="1" i="0" lang="en-US" sz="3000" u="none" cap="none" strike="noStrike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 2026 | UNIVERSITÀ DI PADOVA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4B5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232048" y="5473033"/>
            <a:ext cx="5731481" cy="2789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Lorenzo Battistella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Edoardo De Piccoli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Davide Facco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Anna Marini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Andrea Menegaldo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Samuele Vendramin</a:t>
            </a:r>
            <a:endParaRPr/>
          </a:p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Simone Zecchinato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1/4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 rot="-2211212">
            <a:off x="-2375712" y="-1654371"/>
            <a:ext cx="4019963" cy="4727301"/>
            <a:chOff x="0" y="-57150"/>
            <a:chExt cx="981327" cy="1153998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81327" cy="1096848"/>
            </a:xfrm>
            <a:custGeom>
              <a:rect b="b" l="l" r="r" t="t"/>
              <a:pathLst>
                <a:path extrusionOk="0" h="1096848" w="981327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>
              <a:gsLst>
                <a:gs pos="0">
                  <a:srgbClr val="9FA5C8"/>
                </a:gs>
                <a:gs pos="100000">
                  <a:srgbClr val="9FA5C8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3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028700" y="1356671"/>
            <a:ext cx="16230600" cy="1079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4B548B"/>
                </a:solidFill>
                <a:latin typeface="Arial"/>
                <a:ea typeface="Arial"/>
                <a:cs typeface="Arial"/>
                <a:sym typeface="Arial"/>
              </a:rPr>
              <a:t>ATTIVITÀ COMPLETATE</a:t>
            </a:r>
            <a:endParaRPr/>
          </a:p>
        </p:txBody>
      </p:sp>
      <p:grpSp>
        <p:nvGrpSpPr>
          <p:cNvPr id="107" name="Google Shape;107;p2"/>
          <p:cNvGrpSpPr/>
          <p:nvPr/>
        </p:nvGrpSpPr>
        <p:grpSpPr>
          <a:xfrm rot="-2211212">
            <a:off x="-1508463" y="-4095834"/>
            <a:ext cx="6950422" cy="4688283"/>
            <a:chOff x="0" y="-47625"/>
            <a:chExt cx="1696691" cy="114447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696691" cy="1096848"/>
            </a:xfrm>
            <a:custGeom>
              <a:rect b="b" l="l" r="r" t="t"/>
              <a:pathLst>
                <a:path extrusionOk="0"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 rot="-2211212">
            <a:off x="13713882" y="8769957"/>
            <a:ext cx="6950422" cy="4727301"/>
            <a:chOff x="0" y="-57150"/>
            <a:chExt cx="1696691" cy="115399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696691" cy="1096848"/>
            </a:xfrm>
            <a:custGeom>
              <a:rect b="b" l="l" r="r" t="t"/>
              <a:pathLst>
                <a:path extrusionOk="0"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44145" y="2569511"/>
            <a:ext cx="799709" cy="799709"/>
          </a:xfrm>
          <a:custGeom>
            <a:rect b="b" l="l" r="r" t="t"/>
            <a:pathLst>
              <a:path extrusionOk="0" h="799709" w="799709">
                <a:moveTo>
                  <a:pt x="0" y="0"/>
                </a:moveTo>
                <a:lnTo>
                  <a:pt x="799710" y="0"/>
                </a:lnTo>
                <a:lnTo>
                  <a:pt x="799710" y="799709"/>
                </a:lnTo>
                <a:lnTo>
                  <a:pt x="0" y="799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9882118" y="4867903"/>
            <a:ext cx="4607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700"/>
              <a:buChar char="●"/>
            </a:pPr>
            <a:r>
              <a:rPr lang="en-US" sz="2700">
                <a:solidFill>
                  <a:srgbClr val="231F20"/>
                </a:solidFill>
              </a:rPr>
              <a:t>Raccolta dati dagli ultimi sprint</a:t>
            </a:r>
            <a:endParaRPr sz="2700"/>
          </a:p>
        </p:txBody>
      </p:sp>
      <p:sp>
        <p:nvSpPr>
          <p:cNvPr id="115" name="Google Shape;115;p2"/>
          <p:cNvSpPr txBox="1"/>
          <p:nvPr/>
        </p:nvSpPr>
        <p:spPr>
          <a:xfrm>
            <a:off x="9882118" y="3813153"/>
            <a:ext cx="46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Rifinizione</a:t>
            </a:r>
            <a:r>
              <a:rPr b="1" lang="en-US" sz="2999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 PdQ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0" y="9406701"/>
            <a:ext cx="1028700" cy="880299"/>
          </a:xfrm>
          <a:custGeom>
            <a:rect b="b" l="l" r="r" t="t"/>
            <a:pathLst>
              <a:path extrusionOk="0" h="880299" w="1028700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989" l="-60307" r="-58967" t="-38727"/>
            </a:stretch>
          </a:blipFill>
          <a:ln>
            <a:noFill/>
          </a:ln>
        </p:spPr>
      </p:sp>
      <p:sp>
        <p:nvSpPr>
          <p:cNvPr id="117" name="Google Shape;117;p2"/>
          <p:cNvSpPr txBox="1"/>
          <p:nvPr/>
        </p:nvSpPr>
        <p:spPr>
          <a:xfrm>
            <a:off x="3798488" y="3806131"/>
            <a:ext cx="50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PoC completato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3798487" y="4867900"/>
            <a:ext cx="5059800" cy="3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Implementazione tecnologie prefissate</a:t>
            </a:r>
            <a:endParaRPr sz="2700"/>
          </a:p>
          <a:p>
            <a:pPr indent="-400050" lvl="0" marL="45720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Sviluppo interfaccia grafica con funzioni di base previste</a:t>
            </a:r>
            <a:endParaRPr sz="2700"/>
          </a:p>
          <a:p>
            <a:pPr indent="-400050" lvl="0" marL="45720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Completati tutti i test necessari</a:t>
            </a:r>
            <a:endParaRPr sz="2700"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231F20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2/4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3"/>
          <p:cNvGrpSpPr/>
          <p:nvPr/>
        </p:nvGrpSpPr>
        <p:grpSpPr>
          <a:xfrm rot="-2211212">
            <a:off x="-2375712" y="-1654371"/>
            <a:ext cx="4019963" cy="4727301"/>
            <a:chOff x="0" y="-57150"/>
            <a:chExt cx="981327" cy="1153998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981327" cy="1096848"/>
            </a:xfrm>
            <a:custGeom>
              <a:rect b="b" l="l" r="r" t="t"/>
              <a:pathLst>
                <a:path extrusionOk="0" h="1096848" w="981327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>
              <a:gsLst>
                <a:gs pos="0">
                  <a:srgbClr val="9FA5C8"/>
                </a:gs>
                <a:gs pos="100000">
                  <a:srgbClr val="9FA5C8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3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 txBox="1"/>
          <p:nvPr/>
        </p:nvSpPr>
        <p:spPr>
          <a:xfrm>
            <a:off x="1028700" y="1260494"/>
            <a:ext cx="16230600" cy="1079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4B548B"/>
                </a:solidFill>
                <a:latin typeface="Arial"/>
                <a:ea typeface="Arial"/>
                <a:cs typeface="Arial"/>
                <a:sym typeface="Arial"/>
              </a:rPr>
              <a:t>PROSSIMI OBIETTIVI</a:t>
            </a:r>
            <a:endParaRPr/>
          </a:p>
        </p:txBody>
      </p:sp>
      <p:grpSp>
        <p:nvGrpSpPr>
          <p:cNvPr id="128" name="Google Shape;128;p3"/>
          <p:cNvGrpSpPr/>
          <p:nvPr/>
        </p:nvGrpSpPr>
        <p:grpSpPr>
          <a:xfrm rot="-2211212">
            <a:off x="-1508463" y="-4095834"/>
            <a:ext cx="6950422" cy="4688283"/>
            <a:chOff x="0" y="-47625"/>
            <a:chExt cx="1696691" cy="1144473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1696691" cy="1096848"/>
            </a:xfrm>
            <a:custGeom>
              <a:rect b="b" l="l" r="r" t="t"/>
              <a:pathLst>
                <a:path extrusionOk="0"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 rot="-2211212">
            <a:off x="13713882" y="8769957"/>
            <a:ext cx="6950422" cy="4727301"/>
            <a:chOff x="0" y="-57150"/>
            <a:chExt cx="1696691" cy="1153998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1696691" cy="1096848"/>
            </a:xfrm>
            <a:custGeom>
              <a:rect b="b" l="l" r="r" t="t"/>
              <a:pathLst>
                <a:path extrusionOk="0"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"/>
          <p:cNvSpPr txBox="1"/>
          <p:nvPr/>
        </p:nvSpPr>
        <p:spPr>
          <a:xfrm>
            <a:off x="3619697" y="3712235"/>
            <a:ext cx="46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REVISIONE RTB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3619697" y="4356972"/>
            <a:ext cx="46074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231F20"/>
                </a:solidFill>
                <a:latin typeface="NTR"/>
                <a:ea typeface="NTR"/>
                <a:cs typeface="NTR"/>
                <a:sym typeface="NTR"/>
              </a:rPr>
              <a:t>Incontro con il prof. Cardin per la Revisione RTB </a:t>
            </a:r>
            <a:endParaRPr b="0" i="0" sz="2799" u="none" cap="none" strike="noStrike">
              <a:solidFill>
                <a:srgbClr val="231F20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0" y="9406701"/>
            <a:ext cx="1028700" cy="880299"/>
          </a:xfrm>
          <a:custGeom>
            <a:rect b="b" l="l" r="r" t="t"/>
            <a:pathLst>
              <a:path extrusionOk="0" h="880299" w="1028700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1989" l="-60307" r="-58967" t="-38727"/>
            </a:stretch>
          </a:blipFill>
          <a:ln>
            <a:noFill/>
          </a:ln>
        </p:spPr>
      </p:sp>
      <p:sp>
        <p:nvSpPr>
          <p:cNvPr id="137" name="Google Shape;137;p3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3/4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0348222" y="4341535"/>
            <a:ext cx="46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AVVIO FASE PB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0348222" y="4356972"/>
            <a:ext cx="460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231F20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4"/>
          <p:cNvGrpSpPr/>
          <p:nvPr/>
        </p:nvGrpSpPr>
        <p:grpSpPr>
          <a:xfrm rot="-2211212">
            <a:off x="-2375712" y="-1654371"/>
            <a:ext cx="4019963" cy="4727301"/>
            <a:chOff x="0" y="-57150"/>
            <a:chExt cx="981327" cy="1153998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981327" cy="1096848"/>
            </a:xfrm>
            <a:custGeom>
              <a:rect b="b" l="l" r="r" t="t"/>
              <a:pathLst>
                <a:path extrusionOk="0" h="1096848" w="981327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>
              <a:gsLst>
                <a:gs pos="0">
                  <a:srgbClr val="9FA5C8"/>
                </a:gs>
                <a:gs pos="100000">
                  <a:srgbClr val="9FA5C8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3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4"/>
          <p:cNvSpPr txBox="1"/>
          <p:nvPr/>
        </p:nvSpPr>
        <p:spPr>
          <a:xfrm>
            <a:off x="1473570" y="1256476"/>
            <a:ext cx="16230600" cy="95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0" u="none" cap="none" strike="noStrike">
                <a:solidFill>
                  <a:srgbClr val="4B548B"/>
                </a:solidFill>
                <a:latin typeface="Arial"/>
                <a:ea typeface="Arial"/>
                <a:cs typeface="Arial"/>
                <a:sym typeface="Arial"/>
              </a:rPr>
              <a:t>DIFFICOLTÀ RISCONTRATE E DUBBI</a:t>
            </a:r>
            <a:endParaRPr/>
          </a:p>
        </p:txBody>
      </p:sp>
      <p:grpSp>
        <p:nvGrpSpPr>
          <p:cNvPr id="148" name="Google Shape;148;p4"/>
          <p:cNvGrpSpPr/>
          <p:nvPr/>
        </p:nvGrpSpPr>
        <p:grpSpPr>
          <a:xfrm rot="-2211212">
            <a:off x="-1508463" y="-4095834"/>
            <a:ext cx="6950422" cy="4688283"/>
            <a:chOff x="0" y="-47625"/>
            <a:chExt cx="1696691" cy="1144473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1696691" cy="1096848"/>
            </a:xfrm>
            <a:custGeom>
              <a:rect b="b" l="l" r="r" t="t"/>
              <a:pathLst>
                <a:path extrusionOk="0"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4"/>
          <p:cNvGrpSpPr/>
          <p:nvPr/>
        </p:nvGrpSpPr>
        <p:grpSpPr>
          <a:xfrm rot="-2211212">
            <a:off x="13713882" y="8769957"/>
            <a:ext cx="6950422" cy="4727301"/>
            <a:chOff x="0" y="-57150"/>
            <a:chExt cx="1696691" cy="1153998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1696691" cy="1096848"/>
            </a:xfrm>
            <a:custGeom>
              <a:rect b="b" l="l" r="r" t="t"/>
              <a:pathLst>
                <a:path extrusionOk="0" h="1096848" w="1696691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4"/>
          <p:cNvSpPr/>
          <p:nvPr/>
        </p:nvSpPr>
        <p:spPr>
          <a:xfrm>
            <a:off x="0" y="9406701"/>
            <a:ext cx="1028700" cy="880299"/>
          </a:xfrm>
          <a:custGeom>
            <a:rect b="b" l="l" r="r" t="t"/>
            <a:pathLst>
              <a:path extrusionOk="0" h="880299" w="1028700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1989" l="-60307" r="-58967" t="-38727"/>
            </a:stretch>
          </a:blipFill>
          <a:ln>
            <a:noFill/>
          </a:ln>
        </p:spPr>
      </p:sp>
      <p:sp>
        <p:nvSpPr>
          <p:cNvPr id="155" name="Google Shape;155;p4"/>
          <p:cNvSpPr/>
          <p:nvPr/>
        </p:nvSpPr>
        <p:spPr>
          <a:xfrm flipH="1">
            <a:off x="15773377" y="8216695"/>
            <a:ext cx="418787" cy="418787"/>
          </a:xfrm>
          <a:custGeom>
            <a:rect b="b" l="l" r="r" t="t"/>
            <a:pathLst>
              <a:path extrusionOk="0" h="418787" w="418787">
                <a:moveTo>
                  <a:pt x="418787" y="0"/>
                </a:moveTo>
                <a:lnTo>
                  <a:pt x="0" y="0"/>
                </a:lnTo>
                <a:lnTo>
                  <a:pt x="0" y="418787"/>
                </a:lnTo>
                <a:lnTo>
                  <a:pt x="418787" y="418787"/>
                </a:lnTo>
                <a:lnTo>
                  <a:pt x="41878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4"/>
          <p:cNvSpPr txBox="1"/>
          <p:nvPr/>
        </p:nvSpPr>
        <p:spPr>
          <a:xfrm>
            <a:off x="6626123" y="4710019"/>
            <a:ext cx="592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6653274" y="4283804"/>
            <a:ext cx="5898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4B548B"/>
                </a:solidFill>
                <a:latin typeface="Inter"/>
                <a:ea typeface="Inter"/>
                <a:cs typeface="Inter"/>
                <a:sym typeface="Inter"/>
              </a:rPr>
              <a:t>Coordinamento tra le task e la sessione d’esami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4/4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